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Internal review of a transaction irregularity involving PT Mitra Pajakku.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agreement expired in 2023; payments continued in 2026 with no contract in place, routed as reimbursement instead of procurement.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Agreement started Sept 2022, expired Aug 2023. Transactions resumed via reimbursement starting Jan 2026, continuing monthly through June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cooperation agreement clause shows the term ran from Sept 2022 to Aug 2023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transaction pivot shows eight recurring payments to PT Mitra Pajakku from January through June 2026, totaling IDR 925,126,800.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chronology is submitted as-is for review and determination of appropriate follow-up.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523105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70" kern="0" dirty="0">
                <a:solidFill>
                  <a:srgbClr val="C9B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 REVIEW · CONFIDENTIAL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6039877" y="857250"/>
            <a:ext cx="1320411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8891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JULY 2026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47750" y="3881512"/>
            <a:ext cx="15716250" cy="861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945"/>
              </a:lnSpc>
              <a:buNone/>
            </a:pPr>
            <a:r>
              <a:rPr lang="en-US" sz="6000" b="1" dirty="0">
                <a:solidFill>
                  <a:srgbClr val="FBF9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Transaction Irregularity Review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047750" y="4971157"/>
            <a:ext cx="11282363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B9C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Reimbursement payments to PT Mitra Pajakku processed without a valid underlying agreement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47750" y="8634413"/>
            <a:ext cx="16192500" cy="9525"/>
          </a:xfrm>
          <a:prstGeom prst="rect">
            <a:avLst/>
          </a:prstGeom>
          <a:solidFill>
            <a:srgbClr val="35405C"/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8910638"/>
            <a:ext cx="209492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891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COUNTERPARTY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7750" y="9205913"/>
            <a:ext cx="209492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BF9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Mitra Pajakku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3485629" y="8910638"/>
            <a:ext cx="341713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891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3485629" y="9205913"/>
            <a:ext cx="341713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BF9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&amp; Compliance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125519" y="8910638"/>
            <a:ext cx="207495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891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PERIOD REVIEWED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125519" y="9205913"/>
            <a:ext cx="207495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BF9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– Jun 2026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9371551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A876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FINDING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47750" y="1204913"/>
            <a:ext cx="9371551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0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1047750" y="2185988"/>
            <a:ext cx="224879" cy="11247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A876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405979" y="2185988"/>
            <a:ext cx="8406203" cy="11247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2023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cooperation agreement with PT Mitra Pajakku (No. 20220278/PKS/MP/OPS-AMFS/IV/2023) </a:t>
            </a:r>
            <a:pPr algn="l" indent="0" marL="0">
              <a:lnSpc>
                <a:spcPct val="125667"/>
              </a:lnSpc>
              <a:buNone/>
            </a:pPr>
            <a:r>
              <a:rPr lang="en-US" sz="1950" b="1" dirty="0">
                <a:solidFill>
                  <a:srgbClr val="2023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expired 31 August 2023 </a:t>
            </a:r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2023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was not renewed.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47750" y="3558406"/>
            <a:ext cx="224879" cy="775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A876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405979" y="3558406"/>
            <a:ext cx="8406203" cy="775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2023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January to June 2026, </a:t>
            </a:r>
            <a:pPr algn="l" indent="0" marL="0">
              <a:lnSpc>
                <a:spcPct val="125667"/>
              </a:lnSpc>
              <a:buNone/>
            </a:pPr>
            <a:r>
              <a:rPr lang="en-US" sz="1950" b="1" dirty="0">
                <a:solidFill>
                  <a:srgbClr val="2023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payments </a:t>
            </a:r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2023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the same vendor were processed through the </a:t>
            </a:r>
            <a:pPr algn="l" indent="0" marL="0">
              <a:lnSpc>
                <a:spcPct val="125667"/>
              </a:lnSpc>
              <a:buNone/>
            </a:pPr>
            <a:r>
              <a:rPr lang="en-US" sz="1950" b="1" dirty="0">
                <a:solidFill>
                  <a:srgbClr val="2023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reimbursement </a:t>
            </a:r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2023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instead of Procurement.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047750" y="4581302"/>
            <a:ext cx="224879" cy="765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A876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405979" y="4581302"/>
            <a:ext cx="8406203" cy="765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2023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items paid — e-materai top-up, cloud hosting, e-PPT/e-Bunifikasi services — sit within </a:t>
            </a:r>
            <a:pPr algn="l" indent="0" marL="0">
              <a:lnSpc>
                <a:spcPct val="125667"/>
              </a:lnSpc>
              <a:buNone/>
            </a:pPr>
            <a:r>
              <a:rPr lang="en-US" sz="1950" b="1" dirty="0">
                <a:solidFill>
                  <a:srgbClr val="2023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scope</a:t>
            </a:r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2023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reimbursement.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047750" y="5594672"/>
            <a:ext cx="224879" cy="765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8C2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405979" y="5594672"/>
            <a:ext cx="8406203" cy="765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2023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recurring, contract-based spend with </a:t>
            </a:r>
            <a:pPr algn="l" indent="0" marL="0">
              <a:lnSpc>
                <a:spcPct val="125667"/>
              </a:lnSpc>
              <a:buNone/>
            </a:pPr>
            <a:r>
              <a:rPr lang="en-US" sz="1950" b="1" dirty="0">
                <a:solidFill>
                  <a:srgbClr val="8C2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underlying agreement </a:t>
            </a:r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2023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place — a transaction breach.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0424592" y="2938463"/>
            <a:ext cx="6815658" cy="2352675"/>
          </a:xfrm>
          <a:prstGeom prst="roundRect">
            <a:avLst>
              <a:gd name="adj" fmla="val 1619"/>
            </a:avLst>
          </a:prstGeom>
          <a:solidFill>
            <a:srgbClr val="14213D"/>
          </a:solidFill>
          <a:ln/>
        </p:spPr>
      </p:sp>
      <p:sp>
        <p:nvSpPr>
          <p:cNvPr id="13" name="Text 11"/>
          <p:cNvSpPr/>
          <p:nvPr/>
        </p:nvSpPr>
        <p:spPr>
          <a:xfrm>
            <a:off x="10843692" y="3395663"/>
            <a:ext cx="6575204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8891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CUMULATIVE VALUE, JAN–JUN 2026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843692" y="3743325"/>
            <a:ext cx="6575204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5700" b="1" dirty="0">
                <a:solidFill>
                  <a:srgbClr val="FBF9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IDR 925,126,800</a:t>
            </a:r>
            <a:endParaRPr lang="en-US" sz="5700" dirty="0"/>
          </a:p>
        </p:txBody>
      </p:sp>
      <p:sp>
        <p:nvSpPr>
          <p:cNvPr id="15" name="Text 13"/>
          <p:cNvSpPr/>
          <p:nvPr/>
        </p:nvSpPr>
        <p:spPr>
          <a:xfrm>
            <a:off x="10843692" y="4562475"/>
            <a:ext cx="657520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9C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nearing IDR 1 billion, across 8 transactions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0424592" y="5538788"/>
            <a:ext cx="6815658" cy="1905000"/>
          </a:xfrm>
          <a:prstGeom prst="roundRect">
            <a:avLst>
              <a:gd name="adj" fmla="val 2000"/>
            </a:avLst>
          </a:prstGeom>
          <a:solidFill>
            <a:srgbClr val="FBF9F4"/>
          </a:solidFill>
          <a:ln w="9525">
            <a:solidFill>
              <a:srgbClr val="D9D4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53217" y="5891213"/>
            <a:ext cx="6554249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666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WITHOUT A VALID AGREEMENT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853217" y="6200775"/>
            <a:ext cx="6554249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8C2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~29 months</a:t>
            </a:r>
            <a:endParaRPr lang="en-US" sz="3900" dirty="0"/>
          </a:p>
        </p:txBody>
      </p:sp>
      <p:sp>
        <p:nvSpPr>
          <p:cNvPr id="19" name="Text 17"/>
          <p:cNvSpPr/>
          <p:nvPr/>
        </p:nvSpPr>
        <p:spPr>
          <a:xfrm>
            <a:off x="10853217" y="6819900"/>
            <a:ext cx="6554249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6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2023 expiry to first flagged transaction, Jan 2026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A876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CHRONOLOGY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47750" y="1204913"/>
            <a:ext cx="17811750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0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Timeline of Events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1047750" y="2586038"/>
            <a:ext cx="16192500" cy="19050"/>
          </a:xfrm>
          <a:prstGeom prst="rect">
            <a:avLst/>
          </a:prstGeom>
          <a:solidFill>
            <a:srgbClr val="D9D4C7"/>
          </a:solidFill>
          <a:ln/>
        </p:spPr>
      </p:sp>
      <p:sp>
        <p:nvSpPr>
          <p:cNvPr id="5" name="Shape 3"/>
          <p:cNvSpPr/>
          <p:nvPr/>
        </p:nvSpPr>
        <p:spPr>
          <a:xfrm>
            <a:off x="4124325" y="2576513"/>
            <a:ext cx="5991225" cy="381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</p:sp>
      <p:sp>
        <p:nvSpPr>
          <p:cNvPr id="6" name="Shape 4"/>
          <p:cNvSpPr/>
          <p:nvPr/>
        </p:nvSpPr>
        <p:spPr>
          <a:xfrm>
            <a:off x="1047750" y="2509838"/>
            <a:ext cx="152400" cy="15240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2852738"/>
            <a:ext cx="404808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66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SEP 2022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7750" y="3186113"/>
            <a:ext cx="40480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023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Agreement effective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047750" y="3548063"/>
            <a:ext cx="3790475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00"/>
              </a:lnSpc>
              <a:buNone/>
            </a:pPr>
            <a:r>
              <a:rPr lang="en-US" sz="1650" dirty="0">
                <a:solidFill>
                  <a:srgbClr val="66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PKS No. 20220278/PKS/MP/OPS-AMFS/IV/2023 signed with PT Mitra Pajakku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4727823" y="2509838"/>
            <a:ext cx="152400" cy="152400"/>
          </a:xfrm>
          <a:prstGeom prst="ellipse">
            <a:avLst/>
          </a:prstGeom>
          <a:solidFill>
            <a:srgbClr val="8C2F1F"/>
          </a:solidFill>
          <a:ln/>
        </p:spPr>
      </p:sp>
      <p:sp>
        <p:nvSpPr>
          <p:cNvPr id="11" name="Text 9"/>
          <p:cNvSpPr/>
          <p:nvPr/>
        </p:nvSpPr>
        <p:spPr>
          <a:xfrm>
            <a:off x="4727823" y="2852738"/>
            <a:ext cx="404816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66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 AUG 2023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727823" y="3186113"/>
            <a:ext cx="404816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8C2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Agreement expires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4727823" y="3548063"/>
            <a:ext cx="3790552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00"/>
              </a:lnSpc>
              <a:buNone/>
            </a:pPr>
            <a:r>
              <a:rPr lang="en-US" sz="1650" dirty="0">
                <a:solidFill>
                  <a:srgbClr val="66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extension or new PKS executed with the vendor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8407971" y="2452688"/>
            <a:ext cx="266700" cy="266700"/>
          </a:xfrm>
          <a:prstGeom prst="ellipse">
            <a:avLst/>
          </a:prstGeom>
          <a:solidFill>
            <a:srgbClr val="FBF9F4"/>
          </a:solidFill>
          <a:ln w="28575">
            <a:solidFill>
              <a:srgbClr val="8C2F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07971" y="2852738"/>
            <a:ext cx="566734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66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JAN – 23 JUN 2026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8407971" y="3186113"/>
            <a:ext cx="56673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023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reimbursement payments processed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8407971" y="3548063"/>
            <a:ext cx="5306696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00"/>
              </a:lnSpc>
              <a:buNone/>
            </a:pPr>
            <a:r>
              <a:rPr lang="en-US" sz="1650" dirty="0">
                <a:solidFill>
                  <a:srgbClr val="66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e-materai top-ups, cloud hosting, and e-PPT/e-Bunifikasi fees to PT Mitra Pajakku — IDR 925,126,800 total — with no agreement on file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3560103" y="2509838"/>
            <a:ext cx="152400" cy="15240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9" name="Text 17"/>
          <p:cNvSpPr/>
          <p:nvPr/>
        </p:nvSpPr>
        <p:spPr>
          <a:xfrm>
            <a:off x="13560103" y="2852738"/>
            <a:ext cx="404816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66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JUL 2026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3560103" y="3186113"/>
            <a:ext cx="404816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023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raised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3560103" y="3548063"/>
            <a:ext cx="3790552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00"/>
              </a:lnSpc>
              <a:buNone/>
            </a:pPr>
            <a:r>
              <a:rPr lang="en-US" sz="1650" dirty="0">
                <a:solidFill>
                  <a:srgbClr val="66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Irregularity identified for internal review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804009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C9B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EVIDENCE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47750" y="1204913"/>
            <a:ext cx="8040090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BF9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Agreement Status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1047750" y="2109788"/>
            <a:ext cx="752844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B9C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 from PKS No. 20220278/PKS/MP/OPS-AMFS/IV/2023 defines the jangka waktu — the agreement's contractual term.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047750" y="3233738"/>
            <a:ext cx="7309172" cy="1423988"/>
          </a:xfrm>
          <a:prstGeom prst="roundRect">
            <a:avLst>
              <a:gd name="adj" fmla="val 1338"/>
            </a:avLst>
          </a:prstGeom>
          <a:solidFill>
            <a:srgbClr val="1B2A4A"/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" y="3233738"/>
            <a:ext cx="38100" cy="1423988"/>
          </a:xfrm>
          <a:prstGeom prst="rect">
            <a:avLst/>
          </a:prstGeom>
          <a:solidFill>
            <a:srgbClr val="8C2F1F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3481388"/>
            <a:ext cx="736953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C9B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 ON FILE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371600" y="3795713"/>
            <a:ext cx="736953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BF9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Sep 2022 – 31 Aug 2023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371600" y="4138613"/>
            <a:ext cx="736953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89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extension or renewal document identified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369549" y="1095375"/>
            <a:ext cx="4381500" cy="8191500"/>
          </a:xfrm>
          <a:prstGeom prst="roundRect">
            <a:avLst>
              <a:gd name="adj" fmla="val 435"/>
            </a:avLst>
          </a:prstGeom>
          <a:ln/>
          <a:effectLst>
            <a:outerShdw sx="100000" sy="100000" kx="0" ky="0" algn="bl" rotWithShape="0" blurRad="666750" dist="285750" dir="5400000">
              <a:srgbClr val="000000">
                <a:alpha val="45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9549" y="1095375"/>
            <a:ext cx="4381500" cy="81915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369549" y="8672513"/>
            <a:ext cx="4381500" cy="532433"/>
          </a:xfrm>
          <a:prstGeom prst="rect">
            <a:avLst/>
          </a:prstGeom>
          <a:solidFill>
            <a:srgbClr val="8C2F1F">
              <a:alpha val="28000"/>
            </a:srgbClr>
          </a:solidFill>
          <a:ln w="19050">
            <a:solidFill>
              <a:srgbClr val="8C2F1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3941549" y="7484715"/>
            <a:ext cx="2857500" cy="1038225"/>
          </a:xfrm>
          <a:prstGeom prst="roundRect">
            <a:avLst>
              <a:gd name="adj" fmla="val 1835"/>
            </a:avLst>
          </a:prstGeom>
          <a:solidFill>
            <a:srgbClr val="8C2F1F"/>
          </a:solidFill>
          <a:ln/>
        </p:spPr>
      </p:sp>
      <p:sp>
        <p:nvSpPr>
          <p:cNvPr id="14" name="Text 11"/>
          <p:cNvSpPr/>
          <p:nvPr/>
        </p:nvSpPr>
        <p:spPr>
          <a:xfrm>
            <a:off x="14112999" y="7618065"/>
            <a:ext cx="260032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 ends 31 Aug 2023 — expired ~29 months before the flagged transactions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691515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A876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EVIDENCE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47750" y="1204913"/>
            <a:ext cx="6915150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0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Transaction Pivot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1047750" y="2109788"/>
            <a:ext cx="6475095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23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Reimbursement pivot, Jan–Jun 2026, grouped by date and vendor — PT Mitra Pajakku appears in every month with a recurring nett amount.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047750" y="3605213"/>
            <a:ext cx="6286500" cy="1223963"/>
          </a:xfrm>
          <a:prstGeom prst="roundRect">
            <a:avLst>
              <a:gd name="adj" fmla="val 1556"/>
            </a:avLst>
          </a:prstGeom>
          <a:solidFill>
            <a:srgbClr val="14213D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3852863"/>
            <a:ext cx="62865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891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GRAND TOTAL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333500" y="4167188"/>
            <a:ext cx="628650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BF9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IDR 925,126,800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1047750" y="5019675"/>
            <a:ext cx="6286500" cy="1339155"/>
          </a:xfrm>
          <a:prstGeom prst="roundRect">
            <a:avLst>
              <a:gd name="adj" fmla="val 1423"/>
            </a:avLst>
          </a:prstGeom>
          <a:solidFill>
            <a:srgbClr val="FBF9F4"/>
          </a:solidFill>
          <a:ln w="9525">
            <a:solidFill>
              <a:srgbClr val="D9D4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3975" y="5238750"/>
            <a:ext cx="630745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666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FLAGGED ENTRY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323975" y="5553075"/>
            <a:ext cx="5906072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00"/>
              </a:lnSpc>
              <a:buNone/>
            </a:pPr>
            <a:r>
              <a:rPr lang="en-US" sz="1650" dirty="0">
                <a:solidFill>
                  <a:srgbClr val="2023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Jan 2026 — e-materai top-up, IDR 140,012,800 — first of eight monthly payments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096250" y="904875"/>
            <a:ext cx="6019800" cy="8572500"/>
          </a:xfrm>
          <a:prstGeom prst="roundRect">
            <a:avLst>
              <a:gd name="adj" fmla="val 316"/>
            </a:avLst>
          </a:prstGeom>
          <a:ln/>
          <a:effectLst>
            <a:outerShdw sx="100000" sy="100000" kx="0" ky="0" algn="bl" rotWithShape="0" blurRad="666750" dist="28575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96250" y="904875"/>
            <a:ext cx="6019800" cy="8572500"/>
          </a:xfrm>
          <a:prstGeom prst="roundRect">
            <a:avLst>
              <a:gd name="adj" fmla="val 316"/>
            </a:avLst>
          </a:prstGeom>
          <a:ln w="9525">
            <a:solidFill>
              <a:srgbClr val="D9D4C7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250" y="904875"/>
            <a:ext cx="6019800" cy="85725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096250" y="1119188"/>
            <a:ext cx="6019800" cy="1028700"/>
          </a:xfrm>
          <a:prstGeom prst="rect">
            <a:avLst/>
          </a:prstGeom>
          <a:solidFill>
            <a:srgbClr val="A8763E">
              <a:alpha val="22000"/>
            </a:srgbClr>
          </a:solidFill>
          <a:ln w="19050">
            <a:solidFill>
              <a:srgbClr val="A8763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096250" y="9237315"/>
            <a:ext cx="6019800" cy="239985"/>
          </a:xfrm>
          <a:prstGeom prst="rect">
            <a:avLst/>
          </a:prstGeom>
          <a:solidFill>
            <a:srgbClr val="8C2F1F">
              <a:alpha val="28000"/>
            </a:srgbClr>
          </a:solidFill>
          <a:ln w="19050">
            <a:solidFill>
              <a:srgbClr val="8C2F1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4306550" y="1247775"/>
            <a:ext cx="2762250" cy="961504"/>
          </a:xfrm>
          <a:prstGeom prst="roundRect">
            <a:avLst>
              <a:gd name="adj" fmla="val 1981"/>
            </a:avLst>
          </a:prstGeom>
          <a:solidFill>
            <a:srgbClr val="A8763E"/>
          </a:solidFill>
          <a:ln/>
        </p:spPr>
      </p:sp>
      <p:sp>
        <p:nvSpPr>
          <p:cNvPr id="17" name="Text 14"/>
          <p:cNvSpPr/>
          <p:nvPr/>
        </p:nvSpPr>
        <p:spPr>
          <a:xfrm>
            <a:off x="14458950" y="1362075"/>
            <a:ext cx="2540318" cy="77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302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payment, 20 Jan 2026 — over 2 years after the agreement expired</a:t>
            </a:r>
            <a:endParaRPr lang="en-US" sz="1425" dirty="0"/>
          </a:p>
        </p:txBody>
      </p:sp>
      <p:sp>
        <p:nvSpPr>
          <p:cNvPr id="18" name="Shape 15"/>
          <p:cNvSpPr/>
          <p:nvPr/>
        </p:nvSpPr>
        <p:spPr>
          <a:xfrm>
            <a:off x="14306550" y="8760172"/>
            <a:ext cx="2762250" cy="717203"/>
          </a:xfrm>
          <a:prstGeom prst="roundRect">
            <a:avLst>
              <a:gd name="adj" fmla="val 2656"/>
            </a:avLst>
          </a:prstGeom>
          <a:solidFill>
            <a:srgbClr val="8C2F1F"/>
          </a:solidFill>
          <a:ln/>
        </p:spPr>
      </p:sp>
      <p:sp>
        <p:nvSpPr>
          <p:cNvPr id="19" name="Text 16"/>
          <p:cNvSpPr/>
          <p:nvPr/>
        </p:nvSpPr>
        <p:spPr>
          <a:xfrm>
            <a:off x="14458950" y="8874472"/>
            <a:ext cx="2540318" cy="52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302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 total: IDR 925,126,800</a:t>
            </a:r>
            <a:endParaRPr lang="en-US" sz="14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C9B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CLOSE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47750" y="1204913"/>
            <a:ext cx="17811750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BF9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of Findings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1047750" y="2338388"/>
            <a:ext cx="5118050" cy="6181725"/>
          </a:xfrm>
          <a:prstGeom prst="roundRect">
            <a:avLst>
              <a:gd name="adj" fmla="val 558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1409700" y="2719388"/>
            <a:ext cx="483356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A876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AGREEMENT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409700" y="3109913"/>
            <a:ext cx="4525975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b="1" dirty="0">
                <a:solidFill>
                  <a:srgbClr val="FBF9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PKS No. 20220278 expired 31 Aug 2023 and was never renewed.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6584900" y="2338388"/>
            <a:ext cx="5118125" cy="6181725"/>
          </a:xfrm>
          <a:prstGeom prst="roundRect">
            <a:avLst>
              <a:gd name="adj" fmla="val 558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6946850" y="2719388"/>
            <a:ext cx="483364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A876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946850" y="3109913"/>
            <a:ext cx="4526052" cy="1040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b="1" dirty="0">
                <a:solidFill>
                  <a:srgbClr val="FBF9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Procurement-scope spend was routed through reimbursement, bypassing contract controls.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2122125" y="2338388"/>
            <a:ext cx="5118125" cy="6181725"/>
          </a:xfrm>
          <a:prstGeom prst="roundRect">
            <a:avLst>
              <a:gd name="adj" fmla="val 558"/>
            </a:avLst>
          </a:prstGeom>
          <a:solidFill>
            <a:srgbClr val="8C2F1F"/>
          </a:solidFill>
          <a:ln/>
        </p:spPr>
      </p:sp>
      <p:sp>
        <p:nvSpPr>
          <p:cNvPr id="11" name="Text 9"/>
          <p:cNvSpPr/>
          <p:nvPr/>
        </p:nvSpPr>
        <p:spPr>
          <a:xfrm>
            <a:off x="12484075" y="2719388"/>
            <a:ext cx="483364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3D9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EXPOSURE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2484075" y="3109913"/>
            <a:ext cx="4526052" cy="1040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b="1" dirty="0">
                <a:solidFill>
                  <a:srgbClr val="FBF9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IDR 925,126,800 paid across 8 transactions, Jan–Jun 2026, with no valid underlying agreement.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047750" y="8939213"/>
            <a:ext cx="16192500" cy="9525"/>
          </a:xfrm>
          <a:prstGeom prst="rect">
            <a:avLst/>
          </a:prstGeom>
          <a:solidFill>
            <a:srgbClr val="35405C"/>
          </a:solidFill>
          <a:ln/>
        </p:spPr>
      </p:sp>
      <p:sp>
        <p:nvSpPr>
          <p:cNvPr id="14" name="Text 12"/>
          <p:cNvSpPr/>
          <p:nvPr/>
        </p:nvSpPr>
        <p:spPr>
          <a:xfrm>
            <a:off x="1047750" y="9253538"/>
            <a:ext cx="1667827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9C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Chronology and evidence submitted for internal review and determination of appropriate follow-up.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2026-07-28T07:57:46Z</dcterms:created>
  <dcterms:modified xsi:type="dcterms:W3CDTF">2026-07-28T07:57:46Z</dcterms:modified>
</cp:coreProperties>
</file>